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58" r:id="rId4"/>
    <p:sldId id="261" r:id="rId5"/>
    <p:sldId id="268" r:id="rId6"/>
    <p:sldId id="269" r:id="rId7"/>
    <p:sldId id="271" r:id="rId8"/>
    <p:sldId id="272" r:id="rId9"/>
    <p:sldId id="270" r:id="rId10"/>
    <p:sldId id="273" r:id="rId11"/>
    <p:sldId id="287" r:id="rId12"/>
    <p:sldId id="274" r:id="rId13"/>
    <p:sldId id="288" r:id="rId14"/>
    <p:sldId id="28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00"/>
    <a:srgbClr val="3402F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47"/>
    <p:restoredTop sz="94281"/>
  </p:normalViewPr>
  <p:slideViewPr>
    <p:cSldViewPr snapToGrid="0">
      <p:cViewPr varScale="1">
        <p:scale>
          <a:sx n="97" d="100"/>
          <a:sy n="97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82DDC-9EFD-E94A-9D13-768C19373DE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9083C-B62B-E845-90A9-02FEC6E79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0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12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 explain how this split happens or direct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08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X-SCAPE is a modular, task-based framework which enables a variety of simulation workflows, including pp, </a:t>
            </a:r>
            <a:r>
              <a:rPr lang="en-US" dirty="0" err="1"/>
              <a:t>pA</a:t>
            </a:r>
            <a:r>
              <a:rPr lang="en-US" dirty="0"/>
              <a:t>, AA, ep, and with ongoing work </a:t>
            </a:r>
            <a:r>
              <a:rPr lang="en-US" dirty="0" err="1"/>
              <a:t>xA</a:t>
            </a:r>
            <a:r>
              <a:rPr lang="en-US" dirty="0"/>
              <a:t> and </a:t>
            </a:r>
            <a:r>
              <a:rPr lang="en-US" dirty="0" err="1"/>
              <a:t>eA</a:t>
            </a:r>
            <a:r>
              <a:rPr lang="en-US" dirty="0"/>
              <a:t> collisions (talk on this earlier today)</a:t>
            </a:r>
          </a:p>
          <a:p>
            <a:endParaRPr lang="en-US" dirty="0"/>
          </a:p>
          <a:p>
            <a:r>
              <a:rPr lang="en-US" dirty="0"/>
              <a:t>Try and reference Eric’s talk as well as </a:t>
            </a:r>
            <a:r>
              <a:rPr lang="en-US" dirty="0" err="1"/>
              <a:t>Ritoban’s</a:t>
            </a:r>
            <a:r>
              <a:rPr lang="en-US" dirty="0"/>
              <a:t> (non-JETSCAPE but uses the framework) and Yasuki’s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61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to mention that this peak/momentum scale will be lower at lower COM energy. RHIC will be in neighborhood a few GeV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3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click: Pay attention to timescale. Escapes and barely interacts with medium</a:t>
            </a:r>
          </a:p>
          <a:p>
            <a:endParaRPr lang="en-US" dirty="0"/>
          </a:p>
          <a:p>
            <a:r>
              <a:rPr lang="en-US" dirty="0"/>
              <a:t>Done with JETSCAPE, not our setup. Our setup would have an even smaller hydro…</a:t>
            </a:r>
          </a:p>
          <a:p>
            <a:endParaRPr lang="en-US" dirty="0"/>
          </a:p>
          <a:p>
            <a:r>
              <a:rPr lang="en-US" dirty="0"/>
              <a:t>Caveat these simulations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5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48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observe energy loss!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68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side note, we can express this plot in terms of centrality classification which we use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31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Fragmentation: Photon does not stretch a string which should alter how much production comes from Lund string breaking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30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7E6-E610-A956-7AD5-88D01D66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B6F8A-F23E-CDED-3ECE-BC5E849D6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52D2D-D366-7077-53C1-7FF9F0199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observe energy loss!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8053C-304B-3DEB-2428-886015BD8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083C-B62B-E845-90A9-02FEC6E791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0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D7A8-EA6B-BF84-5D24-E48D83700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FCDFD-86DC-125D-549D-EA1626CB4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71B36-2CC2-684D-53E3-8898E1C6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122A-F5AF-6B48-8140-3953C3644790}" type="datetime1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67EC-9B56-A997-22FC-36DC8671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22F1B-15EB-CE2B-8CF2-48236137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8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349E-03D1-5744-CB8B-A172B450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7590-D24F-6DF9-BF6D-FB8C4A139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55C66-3B08-ECB4-9808-71FB3936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66AB-86EF-DB47-9E08-64F5E4636751}" type="datetime1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4110E-A1A0-C3D8-0BCC-01D6BD7F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9876-97B4-8F08-C0B4-4AE5894A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7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6C22-415B-2561-D70D-391996DD8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5F5F7-600B-8E39-F1CA-100A79B64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44CC6-2102-EEB1-51F2-565109E8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3A19-E3D6-6E42-8C1C-93E5FD619579}" type="datetime1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88DF9-0612-D641-1EDD-DD4F68B2C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73FAB-2393-71FF-84C4-28468922F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3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1254-9E97-849A-A05D-CEB86C40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B8EE3-ABF7-48A6-E5A2-45919D645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8C2EA-E20A-8193-FCF2-7BAF193F9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0E2C1-C22B-E439-2345-0C1D7CA8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AA171-6CF7-8A4E-BB22-0C59B857A55B}" type="datetime1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5E6AF-6F62-5ABD-4778-B712DF02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5C57F-4246-585E-3BED-5BA90C98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5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1D47-41A5-1C4D-E253-F65D58A9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100EC-16A9-3675-0CAE-61E09DA46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2FFF9-F38F-92B4-3D50-165BF073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FED53-6F33-597A-5095-9D1EBCB68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C173A-9E21-9D33-CD2F-26F1EAF95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69CB4-0E27-2851-A986-7F6F74A4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896-1542-DC4C-B7D4-43004D7C8A97}" type="datetime1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9CBDD-E808-81F2-BC1E-6C151781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107A9-598B-EA2F-1C58-F8C8E117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8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070F-7740-582B-3595-2FA7CE25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4BFCA-5A49-1AEE-AE37-2BF96484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CD2CF-F6BE-4E49-9AFB-1E6CA0385F92}" type="datetime1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26C0E-4CA8-B434-D2E5-B9F626C5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DAAB5-434D-CAD5-3188-0F1E36FD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4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1A31-80C3-7799-CC89-3A89A8A7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249E-D52A-D043-84A7-29D90B60053F}" type="datetime1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A5555-DBE5-A664-FB8C-EED2FD58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14E35-2B96-1883-A08C-E05DD629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1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A0B4-5A62-B440-FB56-5E4BBA0B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07114-39B8-8554-AF9F-ED4EB10AC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BE62E-CF4B-027F-8D1B-1062C08D0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2DCE3-8307-7DCA-6B3C-F396ACCC9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0F886-166C-A74E-B7C0-241049823232}" type="datetime1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60559-6A67-56F3-CE60-B036B2DE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9B625-B93E-B21E-0981-A5BC1268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9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91C8-02BD-E611-6218-710595C1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92D3C-2BBA-1FD3-455B-03D0A55EC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52D29-D53A-12F5-3B37-2552B14AA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FE30C-69AE-9EA1-3278-C7454099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0FE0-94F9-F540-A683-3218094870F5}" type="datetime1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28A11-0252-43CB-A11B-42727DC9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AA277-FC82-F6BA-8E79-2B1F72F8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26C6-7C5F-A939-3E61-83F88495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848CF-6752-DBFC-06ED-CD46C1A98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1811C-6F92-BE65-DC86-B45332A2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F5364-37E7-B241-A798-2A5A40004B64}" type="datetime1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165B4-95A5-5C49-1838-B64F86D1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6F789-9660-EA34-12EC-9044838A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5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0CD4F-A83D-0344-AAE1-2967144C1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18233-FEA4-A8EA-1E08-6061CED65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47B51-5928-6DA5-B6A1-5A88D122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80D6-AFE9-AE48-B774-F9E0AF8703B0}" type="datetime1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63FC-1450-EFEE-39C9-5A613A272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21EFB-5B66-2E1D-996F-442FAFBE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4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44C40-40BB-FFE6-C6CA-6BDC2A61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5054-5A91-F90C-9314-4028066E9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DF01D-021D-402D-2BFB-AFBA27D30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B772E-4B17-D543-92F2-E4CA3678723E}" type="datetime1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6075-D3C9-6DC5-F59B-3BCE00CE0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C6E17-8BDB-1AEC-A341-EBCCE27D0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C716A-34BD-B948-8AFB-AE91C8204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2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4963A3-AE5F-C29F-0631-5843B9D83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807" y="1994544"/>
            <a:ext cx="8865889" cy="168853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dirty="0"/>
              <a:t>Energy Conservation Induced Bias in Centrality Classification</a:t>
            </a:r>
            <a:endParaRPr lang="en-US" sz="4800" dirty="0">
              <a:solidFill>
                <a:schemeClr val="tx2"/>
              </a:solidFill>
              <a:latin typeface="Cambria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82C5370-9802-BF72-8F30-C2310E305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8490" y="3465498"/>
            <a:ext cx="4650524" cy="19063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Robert Dolan</a:t>
            </a:r>
          </a:p>
          <a:p>
            <a:r>
              <a:rPr lang="en-US" sz="1800" dirty="0">
                <a:solidFill>
                  <a:schemeClr val="tx2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For the WSU Heavy-Ion Journal Club</a:t>
            </a:r>
          </a:p>
          <a:p>
            <a:r>
              <a:rPr lang="en-US" sz="1800" dirty="0">
                <a:solidFill>
                  <a:schemeClr val="tx2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7/24/2026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0FEFA9-1ADF-1211-1A16-4A7DE7DE1D3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65850" y="-1112682"/>
            <a:ext cx="9012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39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3A8D-04BC-B534-742B-1C1A6AFB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First Signs of Centrality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A140-CB6D-290C-A1B0-F6C4901E7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4807" y="1495842"/>
            <a:ext cx="343899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mbria" panose="02040503050406030204" pitchFamily="18" charset="0"/>
              </a:rPr>
              <a:t>No suppression when not centrality selected</a:t>
            </a:r>
          </a:p>
          <a:p>
            <a:r>
              <a:rPr lang="en-US" b="1" dirty="0">
                <a:latin typeface="Cambria" panose="02040503050406030204" pitchFamily="18" charset="0"/>
              </a:rPr>
              <a:t>Suppression in central events</a:t>
            </a:r>
          </a:p>
          <a:p>
            <a:r>
              <a:rPr lang="en-US" b="1" dirty="0">
                <a:solidFill>
                  <a:srgbClr val="3402FD"/>
                </a:solidFill>
                <a:latin typeface="Cambria" panose="02040503050406030204" pitchFamily="18" charset="0"/>
              </a:rPr>
              <a:t>Roughly equal enhancement in peripheral</a:t>
            </a:r>
          </a:p>
          <a:p>
            <a:r>
              <a:rPr lang="en-US" dirty="0">
                <a:latin typeface="Cambria" panose="02040503050406030204" pitchFamily="18" charset="0"/>
              </a:rPr>
              <a:t>Bias in centrality classification!</a:t>
            </a:r>
          </a:p>
          <a:p>
            <a:r>
              <a:rPr lang="en-US" dirty="0">
                <a:latin typeface="Cambria" panose="02040503050406030204" pitchFamily="18" charset="0"/>
              </a:rPr>
              <a:t>Similar results at PHENIX in </a:t>
            </a:r>
            <a:r>
              <a:rPr lang="en-US" dirty="0" err="1">
                <a:latin typeface="Cambria" panose="02040503050406030204" pitchFamily="18" charset="0"/>
              </a:rPr>
              <a:t>d+Au</a:t>
            </a:r>
            <a:r>
              <a:rPr lang="en-US" dirty="0">
                <a:latin typeface="Cambria" panose="02040503050406030204" pitchFamily="18" charset="0"/>
              </a:rPr>
              <a:t> from ~8 GeV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95885-39C8-5ADC-7509-1B234172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6D338-0A17-22B1-33E1-9B57690FE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10" y="1390911"/>
            <a:ext cx="3298957" cy="4786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23591A-4E20-F1DB-E227-F9A921275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995" y="1390910"/>
            <a:ext cx="3298957" cy="4786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9424B0-CEDA-7B0A-A440-71C8BD925D08}"/>
              </a:ext>
            </a:extLst>
          </p:cNvPr>
          <p:cNvSpPr txBox="1"/>
          <p:nvPr/>
        </p:nvSpPr>
        <p:spPr>
          <a:xfrm>
            <a:off x="1426564" y="6112767"/>
            <a:ext cx="4766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ATLAS Coll., Phys. Lett. B 748 (2015) 392-413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21A6C2-EA06-7B43-84AC-108FE1A7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2D28F-3F87-0013-26F4-C4E62CA1C2F7}"/>
              </a:ext>
            </a:extLst>
          </p:cNvPr>
          <p:cNvSpPr txBox="1"/>
          <p:nvPr/>
        </p:nvSpPr>
        <p:spPr>
          <a:xfrm>
            <a:off x="7596864" y="5718792"/>
            <a:ext cx="40748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PEHNIX Coll., PRL 98 172302 (2007)</a:t>
            </a:r>
          </a:p>
        </p:txBody>
      </p:sp>
    </p:spTree>
    <p:extLst>
      <p:ext uri="{BB962C8B-B14F-4D97-AF65-F5344CB8AC3E}">
        <p14:creationId xmlns:p14="http://schemas.microsoft.com/office/powerpoint/2010/main" val="203570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F464-E6CA-F99D-ED06-61A0ACF4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X-SCAPE Framework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42D93D-19CC-EEC0-7694-94594564D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464" y="1510330"/>
            <a:ext cx="11701071" cy="46656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B5F71-F56E-4A51-0D1D-8967FE55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2A83C6-F1DB-A5E6-B54C-97DCAB2A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2C42-7369-1C88-5C9F-06160F6D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Workflow in X-SCAPE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A35184-90E3-B423-4FD8-2F375181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5909F92C-4302-0CDD-2C0B-B322C02B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49" y="1453700"/>
            <a:ext cx="9958696" cy="4486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33620F-D324-E4CC-0DF1-A9081FFD8782}"/>
              </a:ext>
            </a:extLst>
          </p:cNvPr>
          <p:cNvSpPr txBox="1"/>
          <p:nvPr/>
        </p:nvSpPr>
        <p:spPr>
          <a:xfrm rot="10800000" flipV="1">
            <a:off x="4524527" y="6029668"/>
            <a:ext cx="31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I.Soudi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 et al., PRC 112, 014905 (2025)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0EAC17-5E00-FBB3-7BE3-FA698A1C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02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4577-2F66-BE98-9E01-8C9CAB0C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Bias from Hard Probes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BE92C-DB11-C594-3D53-A09089BF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922833" cy="1622348"/>
              </a:xfrm>
            </p:spPr>
            <p:txBody>
              <a:bodyPr/>
              <a:lstStyle/>
              <a:p>
                <a:r>
                  <a:rPr lang="en-US" i="1" dirty="0">
                    <a:latin typeface="Cambria" panose="02040503050406030204" pitchFamily="18" charset="0"/>
                  </a:rPr>
                  <a:t>Without energy loss </a:t>
                </a:r>
                <a:r>
                  <a:rPr lang="en-US" dirty="0">
                    <a:latin typeface="Cambria" panose="02040503050406030204" pitchFamily="18" charset="0"/>
                  </a:rPr>
                  <a:t>reproduces  0-90% data</a:t>
                </a:r>
                <a:endParaRPr lang="en-US" i="1" dirty="0">
                  <a:latin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</a:rPr>
                  <a:t>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>
                    <a:latin typeface="Cambria" panose="02040503050406030204" pitchFamily="18" charset="0"/>
                  </a:rPr>
                  <a:t> Hard probe</a:t>
                </a:r>
                <a:r>
                  <a:rPr lang="en-US" dirty="0"/>
                  <a:t> ⇒</a:t>
                </a:r>
                <a:r>
                  <a:rPr lang="en-US" dirty="0">
                    <a:latin typeface="Cambria" panose="02040503050406030204" pitchFamily="18" charset="0"/>
                  </a:rPr>
                  <a:t> Less forward production</a:t>
                </a:r>
              </a:p>
              <a:p>
                <a:r>
                  <a:rPr lang="en-US" dirty="0">
                    <a:latin typeface="Cambria" panose="02040503050406030204" pitchFamily="18" charset="0"/>
                  </a:rPr>
                  <a:t>Forward production used to classify event activity (centrality)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5BE92C-DB11-C594-3D53-A09089BF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922833" cy="1622348"/>
              </a:xfrm>
              <a:blipFill>
                <a:blip r:embed="rId2"/>
                <a:stretch>
                  <a:fillRect l="-1047" t="-6202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56B8-0B66-DA14-E95A-2E064E75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EBE807-8128-572E-5334-4A64F4C1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13" y="3211439"/>
            <a:ext cx="3697576" cy="2837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AF179-D246-1D93-4217-AB8FFEF4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211" y="3211439"/>
            <a:ext cx="3697578" cy="2837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93683C-F2E9-47EC-62B6-680E35CE8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509" y="3211439"/>
            <a:ext cx="3697578" cy="28371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C893B0-3DF6-F799-C4A7-3BFACD2F8ECE}"/>
              </a:ext>
            </a:extLst>
          </p:cNvPr>
          <p:cNvSpPr txBox="1"/>
          <p:nvPr/>
        </p:nvSpPr>
        <p:spPr>
          <a:xfrm rot="10800000" flipV="1">
            <a:off x="4524529" y="6048573"/>
            <a:ext cx="31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I.Soudi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 et al., PRC 112, 014905 (2025)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14888D-2667-33EC-EFFC-E7801F65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5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116697-9D95-6B86-7A6F-5F56FD8CDF5C}"/>
              </a:ext>
            </a:extLst>
          </p:cNvPr>
          <p:cNvSpPr/>
          <p:nvPr/>
        </p:nvSpPr>
        <p:spPr>
          <a:xfrm>
            <a:off x="914400" y="2686639"/>
            <a:ext cx="9737889" cy="52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2AFA-3BBB-F7A9-B420-23E11D21A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Bias from Hard Probes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E7F3B-C0E4-379A-A718-10DC7CCA5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E3AD6-DF5E-9D81-4427-2515E8F42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5" y="1690688"/>
            <a:ext cx="6734449" cy="516731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FF5C6F-4F60-2F11-A230-E957E99C8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405824" y="502711"/>
            <a:ext cx="4286504" cy="6218763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4D0C2B-5DCC-1720-0762-8283B242A140}"/>
              </a:ext>
            </a:extLst>
          </p:cNvPr>
          <p:cNvSpPr/>
          <p:nvPr/>
        </p:nvSpPr>
        <p:spPr>
          <a:xfrm>
            <a:off x="3237876" y="1615203"/>
            <a:ext cx="3567658" cy="4173693"/>
          </a:xfrm>
          <a:prstGeom prst="roundRect">
            <a:avLst/>
          </a:prstGeom>
          <a:solidFill>
            <a:srgbClr val="00B050">
              <a:alpha val="1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6E9D16-8DFC-18FA-1678-D8CE5701903C}"/>
              </a:ext>
            </a:extLst>
          </p:cNvPr>
          <p:cNvSpPr/>
          <p:nvPr/>
        </p:nvSpPr>
        <p:spPr>
          <a:xfrm>
            <a:off x="7572649" y="365125"/>
            <a:ext cx="4286504" cy="6218763"/>
          </a:xfrm>
          <a:prstGeom prst="roundRect">
            <a:avLst/>
          </a:prstGeom>
          <a:solidFill>
            <a:srgbClr val="00B05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F16F57-9907-6FAC-9F91-F814DC5CBC5A}"/>
              </a:ext>
            </a:extLst>
          </p:cNvPr>
          <p:cNvSpPr/>
          <p:nvPr/>
        </p:nvSpPr>
        <p:spPr>
          <a:xfrm>
            <a:off x="1573967" y="1652946"/>
            <a:ext cx="1663909" cy="4173693"/>
          </a:xfrm>
          <a:prstGeom prst="roundRect">
            <a:avLst/>
          </a:prstGeom>
          <a:solidFill>
            <a:schemeClr val="accent5">
              <a:lumMod val="75000"/>
              <a:alpha val="1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734A8-5B2E-401D-0958-6A33C88532A0}"/>
              </a:ext>
            </a:extLst>
          </p:cNvPr>
          <p:cNvSpPr txBox="1"/>
          <p:nvPr/>
        </p:nvSpPr>
        <p:spPr>
          <a:xfrm>
            <a:off x="1552165" y="1119842"/>
            <a:ext cx="1768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</a:rPr>
              <a:t>Lund String Fragmentation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85A4B1-D8E1-12E9-8FD8-CA06F259050D}"/>
              </a:ext>
            </a:extLst>
          </p:cNvPr>
          <p:cNvSpPr txBox="1"/>
          <p:nvPr/>
        </p:nvSpPr>
        <p:spPr>
          <a:xfrm>
            <a:off x="3404701" y="1259174"/>
            <a:ext cx="3283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/>
                </a:solidFill>
                <a:latin typeface="Cambria" panose="02040503050406030204" pitchFamily="18" charset="0"/>
              </a:rPr>
              <a:t>Soft and Fragmentation Depleted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81432C-191F-B76A-5ED9-2BCE9907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9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4A61-C961-4F60-7D2F-5ABCC55D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Absence of Energy Loss in Small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E3D4-DED5-3BB9-AACA-61021B4D8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ambria" panose="02040503050406030204" pitchFamily="18" charset="0"/>
              </a:rPr>
              <a:t>Partons</a:t>
            </a:r>
            <a:r>
              <a:rPr lang="en-US" dirty="0">
                <a:latin typeface="Cambria" panose="02040503050406030204" pitchFamily="18" charset="0"/>
              </a:rPr>
              <a:t> escape medium too quickly to interact</a:t>
            </a:r>
          </a:p>
          <a:p>
            <a:r>
              <a:rPr lang="en-US" dirty="0">
                <a:latin typeface="Cambria" panose="02040503050406030204" pitchFamily="18" charset="0"/>
              </a:rPr>
              <a:t>Expected to hold at RHIC with </a:t>
            </a:r>
            <a:r>
              <a:rPr lang="en-US" dirty="0" err="1">
                <a:latin typeface="Cambria" panose="02040503050406030204" pitchFamily="18" charset="0"/>
              </a:rPr>
              <a:t>d+Au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647E4-5F16-17FF-9045-8E8BF55E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26E6F-A08C-A245-864A-1BCDAC977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9" y="3109957"/>
            <a:ext cx="3408040" cy="2852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B93195-5B3C-86BF-2A7A-3DAF20CF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787" y="3109957"/>
            <a:ext cx="3408041" cy="2852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31D825-803F-87D3-68E8-FA6EE7E81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216" y="3106498"/>
            <a:ext cx="3408040" cy="28523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48C24-5599-E7FA-31D4-DFC22B20C27E}"/>
              </a:ext>
            </a:extLst>
          </p:cNvPr>
          <p:cNvSpPr txBox="1"/>
          <p:nvPr/>
        </p:nvSpPr>
        <p:spPr>
          <a:xfrm rot="10800000" flipV="1">
            <a:off x="4511338" y="5958879"/>
            <a:ext cx="31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I.Soudi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 et al., PRC 112, 014905 (2025)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992FA86-58C2-3FEA-04D6-9C1B83FE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8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1A15-C160-7821-9287-4DB0B875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Absence of Energy loss in </a:t>
            </a:r>
            <a:r>
              <a:rPr lang="en-US" b="1" dirty="0" err="1">
                <a:latin typeface="Cambria" panose="02040503050406030204" pitchFamily="18" charset="0"/>
              </a:rPr>
              <a:t>d+Au</a:t>
            </a:r>
            <a:endParaRPr lang="en-US" b="1" dirty="0">
              <a:latin typeface="Cambria" panose="02040503050406030204" pitchFamily="18" charset="0"/>
            </a:endParaRPr>
          </a:p>
        </p:txBody>
      </p:sp>
      <p:pic>
        <p:nvPicPr>
          <p:cNvPr id="6" name="dAu_evt0.mp4">
            <a:hlinkClick r:id="" action="ppaction://media"/>
            <a:extLst>
              <a:ext uri="{FF2B5EF4-FFF2-40B4-BE49-F238E27FC236}">
                <a16:creationId xmlns:a16="http://schemas.microsoft.com/office/drawing/2014/main" id="{5F578B0D-4D4E-A782-4811-3F0D815D54A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075770" y="1369197"/>
            <a:ext cx="5887258" cy="467194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C5511-DDA6-3A72-EF05-BB1E7F03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BA47DFE-5A27-6DD0-4E3E-6B32BB8C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221EB-D1F5-C773-5D1A-8F7DA585FA7C}"/>
              </a:ext>
            </a:extLst>
          </p:cNvPr>
          <p:cNvSpPr txBox="1"/>
          <p:nvPr/>
        </p:nvSpPr>
        <p:spPr>
          <a:xfrm>
            <a:off x="3075770" y="6014805"/>
            <a:ext cx="6265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Visual Credit: Joern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Putschke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, Wayne State University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766AB8-52E5-0527-9131-878A779B4B17}"/>
              </a:ext>
            </a:extLst>
          </p:cNvPr>
          <p:cNvSpPr/>
          <p:nvPr/>
        </p:nvSpPr>
        <p:spPr>
          <a:xfrm>
            <a:off x="3075769" y="1329401"/>
            <a:ext cx="1470831" cy="47820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EDA9B0E5-2832-F876-140A-B88D06D4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50084" y="1464708"/>
            <a:ext cx="1116573" cy="79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DAAB6A5-F310-6F6A-E3C0-25CA64F27376}"/>
              </a:ext>
            </a:extLst>
          </p:cNvPr>
          <p:cNvSpPr txBox="1">
            <a:spLocks/>
          </p:cNvSpPr>
          <p:nvPr/>
        </p:nvSpPr>
        <p:spPr>
          <a:xfrm>
            <a:off x="838201" y="1690688"/>
            <a:ext cx="4318000" cy="4068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61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83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EEAF276-DA3A-EE0A-2C6D-ACEA83C7E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928" y="3699428"/>
            <a:ext cx="4271342" cy="1025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F33AF3-B719-E391-F393-AFBE254A5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149" y="1958633"/>
            <a:ext cx="3214142" cy="10834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C678EF-D6D8-EA5E-A6B7-10DC9EE8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latin typeface="Cambria" panose="02040503050406030204" pitchFamily="18" charset="0"/>
              </a:rPr>
              <a:t>Reducing the Bias in Nuclear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F8E44-A89A-0463-1A46-CB5E62F34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58259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</a:rPr>
              <a:t>Centrality bias affects </a:t>
            </a:r>
            <a:r>
              <a:rPr lang="en-US" sz="2400" dirty="0" err="1">
                <a:latin typeface="Cambria" panose="02040503050406030204" pitchFamily="18" charset="0"/>
              </a:rPr>
              <a:t>Ncoll</a:t>
            </a:r>
            <a:r>
              <a:rPr lang="en-US" sz="2400" dirty="0">
                <a:latin typeface="Cambria" panose="02040503050406030204" pitchFamily="18" charset="0"/>
              </a:rPr>
              <a:t> value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ambria" panose="02040503050406030204" pitchFamily="18" charset="0"/>
              </a:rPr>
              <a:t>Possible Solution</a:t>
            </a:r>
            <a:r>
              <a:rPr lang="en-US" i="1" dirty="0">
                <a:solidFill>
                  <a:srgbClr val="00B050"/>
                </a:solidFill>
                <a:latin typeface="Cambria" panose="02040503050406030204" pitchFamily="18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Cambria" panose="02040503050406030204" pitchFamily="18" charset="0"/>
              </a:rPr>
              <a:t>Fix </a:t>
            </a:r>
            <a:r>
              <a:rPr lang="en-US" i="1" u="sng" dirty="0">
                <a:solidFill>
                  <a:srgbClr val="00B050"/>
                </a:solidFill>
                <a:latin typeface="Cambria" panose="02040503050406030204" pitchFamily="18" charset="0"/>
              </a:rPr>
              <a:t>Only</a:t>
            </a:r>
            <a:r>
              <a:rPr lang="en-US" i="1" dirty="0">
                <a:solidFill>
                  <a:srgbClr val="00B050"/>
                </a:solidFill>
                <a:latin typeface="Cambria" panose="02040503050406030204" pitchFamily="18" charset="0"/>
              </a:rPr>
              <a:t>  </a:t>
            </a:r>
            <a:r>
              <a:rPr lang="en-US" dirty="0">
                <a:solidFill>
                  <a:srgbClr val="00B050"/>
                </a:solidFill>
                <a:latin typeface="Cambria" panose="02040503050406030204" pitchFamily="18" charset="0"/>
              </a:rPr>
              <a:t>the </a:t>
            </a:r>
            <a:r>
              <a:rPr lang="en-US" dirty="0" err="1">
                <a:solidFill>
                  <a:srgbClr val="00B050"/>
                </a:solidFill>
                <a:latin typeface="Cambria" panose="02040503050406030204" pitchFamily="18" charset="0"/>
              </a:rPr>
              <a:t>Ncoll</a:t>
            </a:r>
            <a:endParaRPr lang="en-US" dirty="0">
              <a:solidFill>
                <a:srgbClr val="00B050"/>
              </a:solidFill>
              <a:latin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2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PHENIX, PRL 134, 022302 (2025)</a:t>
            </a:r>
          </a:p>
          <a:p>
            <a:r>
              <a:rPr lang="en-US" sz="2400" i="1" dirty="0">
                <a:latin typeface="Cambria" panose="02040503050406030204" pitchFamily="18" charset="0"/>
              </a:rPr>
              <a:t>Prompt </a:t>
            </a:r>
            <a:r>
              <a:rPr lang="en-US" sz="2400" dirty="0">
                <a:latin typeface="Cambria" panose="02040503050406030204" pitchFamily="18" charset="0"/>
              </a:rPr>
              <a:t>photons: no medium effects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</a:rPr>
              <a:t>Yields scaled by </a:t>
            </a:r>
            <a:r>
              <a:rPr lang="en-US" sz="2000" dirty="0" err="1">
                <a:latin typeface="Cambria" panose="02040503050406030204" pitchFamily="18" charset="0"/>
              </a:rPr>
              <a:t>Ncoll</a:t>
            </a:r>
            <a:r>
              <a:rPr lang="en-US" sz="2000" dirty="0">
                <a:latin typeface="Cambria" panose="02040503050406030204" pitchFamily="18" charset="0"/>
              </a:rPr>
              <a:t> from pp</a:t>
            </a:r>
          </a:p>
          <a:p>
            <a:r>
              <a:rPr lang="en-US" sz="2400" dirty="0">
                <a:latin typeface="Cambria" panose="02040503050406030204" pitchFamily="18" charset="0"/>
              </a:rPr>
              <a:t>Apply to other yields as estimate of </a:t>
            </a:r>
            <a:r>
              <a:rPr lang="en-US" sz="2400" dirty="0" err="1">
                <a:latin typeface="Cambria" panose="02040503050406030204" pitchFamily="18" charset="0"/>
              </a:rPr>
              <a:t>Ncoll</a:t>
            </a:r>
            <a:endParaRPr lang="en-US" sz="2400" dirty="0">
              <a:latin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DE9A1-1098-15E6-4144-FF4C0085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CF9550-D4E0-D20F-84F8-98676A80B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4762" y="1993332"/>
            <a:ext cx="2559500" cy="925121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6EBAEA-96D2-5589-6FD0-D52112CBC1B6}"/>
              </a:ext>
            </a:extLst>
          </p:cNvPr>
          <p:cNvSpPr/>
          <p:nvPr/>
        </p:nvSpPr>
        <p:spPr>
          <a:xfrm>
            <a:off x="7029137" y="2455893"/>
            <a:ext cx="599606" cy="46256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B3E52DA-C2A7-DDA0-74B4-C223D6FF57A5}"/>
              </a:ext>
            </a:extLst>
          </p:cNvPr>
          <p:cNvSpPr/>
          <p:nvPr/>
        </p:nvSpPr>
        <p:spPr>
          <a:xfrm>
            <a:off x="9094761" y="1993331"/>
            <a:ext cx="2598815" cy="87851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</a:endParaRP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F1F79D3-BEC6-8F80-2F4E-045FFF09161E}"/>
              </a:ext>
            </a:extLst>
          </p:cNvPr>
          <p:cNvCxnSpPr>
            <a:stCxn id="10" idx="2"/>
            <a:endCxn id="9" idx="2"/>
          </p:cNvCxnSpPr>
          <p:nvPr/>
        </p:nvCxnSpPr>
        <p:spPr>
          <a:xfrm rot="5400000">
            <a:off x="8838253" y="1362536"/>
            <a:ext cx="46605" cy="3065229"/>
          </a:xfrm>
          <a:prstGeom prst="curvedConnector3">
            <a:avLst>
              <a:gd name="adj1" fmla="val 590505"/>
            </a:avLst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CB895F-EFC3-20E6-4091-15F7733BF3E8}"/>
              </a:ext>
            </a:extLst>
          </p:cNvPr>
          <p:cNvSpPr/>
          <p:nvPr/>
        </p:nvSpPr>
        <p:spPr>
          <a:xfrm>
            <a:off x="5275287" y="1825625"/>
            <a:ext cx="6670623" cy="1438917"/>
          </a:xfrm>
          <a:prstGeom prst="round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9AC626-5855-4F55-7F23-546AD39EFBC1}"/>
              </a:ext>
            </a:extLst>
          </p:cNvPr>
          <p:cNvSpPr/>
          <p:nvPr/>
        </p:nvSpPr>
        <p:spPr>
          <a:xfrm>
            <a:off x="6474928" y="3699428"/>
            <a:ext cx="4271342" cy="1083068"/>
          </a:xfrm>
          <a:prstGeom prst="round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104019-721D-F9EB-5276-C28F6498591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8610599" y="3264542"/>
            <a:ext cx="0" cy="43488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D0FF56-E831-4B5E-FA8E-3775D33D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9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AD5FC3-520D-8A74-4D6E-4F3741BE90CC}"/>
              </a:ext>
            </a:extLst>
          </p:cNvPr>
          <p:cNvGrpSpPr/>
          <p:nvPr/>
        </p:nvGrpSpPr>
        <p:grpSpPr>
          <a:xfrm>
            <a:off x="6710813" y="4782496"/>
            <a:ext cx="4195999" cy="1394467"/>
            <a:chOff x="6710813" y="4782496"/>
            <a:chExt cx="4195999" cy="139446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194B90-DD49-BADF-39D9-262CFA55365F}"/>
                </a:ext>
              </a:extLst>
            </p:cNvPr>
            <p:cNvGrpSpPr/>
            <p:nvPr/>
          </p:nvGrpSpPr>
          <p:grpSpPr>
            <a:xfrm>
              <a:off x="6710813" y="5304206"/>
              <a:ext cx="3799569" cy="872757"/>
              <a:chOff x="6706851" y="5133160"/>
              <a:chExt cx="3799569" cy="872757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20227D4-6EA5-4EF8-272C-C86BAAFE08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63285" y="5195564"/>
                <a:ext cx="3507265" cy="747947"/>
              </a:xfrm>
              <a:prstGeom prst="rect">
                <a:avLst/>
              </a:prstGeom>
            </p:spPr>
          </p:pic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4105DB46-9CD1-0DA7-EC79-73BF20FB736D}"/>
                  </a:ext>
                </a:extLst>
              </p:cNvPr>
              <p:cNvSpPr/>
              <p:nvPr/>
            </p:nvSpPr>
            <p:spPr>
              <a:xfrm>
                <a:off x="6706851" y="5133160"/>
                <a:ext cx="3799569" cy="872757"/>
              </a:xfrm>
              <a:prstGeom prst="round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Cambria" panose="02040503050406030204" pitchFamily="18" charset="0"/>
                </a:endParaRPr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DA633C5-DA5C-255D-4E58-9EF05B25149B}"/>
                </a:ext>
              </a:extLst>
            </p:cNvPr>
            <p:cNvCxnSpPr>
              <a:stCxn id="15" idx="2"/>
              <a:endCxn id="19" idx="0"/>
            </p:cNvCxnSpPr>
            <p:nvPr/>
          </p:nvCxnSpPr>
          <p:spPr>
            <a:xfrm flipH="1">
              <a:off x="8610598" y="4782496"/>
              <a:ext cx="1" cy="52171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6FC4E1-7C0F-61FF-7F88-DE4D8ABE36C8}"/>
                </a:ext>
              </a:extLst>
            </p:cNvPr>
            <p:cNvSpPr txBox="1"/>
            <p:nvPr/>
          </p:nvSpPr>
          <p:spPr>
            <a:xfrm>
              <a:off x="8861555" y="4858685"/>
              <a:ext cx="2045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>
                      <a:lumMod val="75000"/>
                    </a:schemeClr>
                  </a:solidFill>
                  <a:latin typeface="Cambria" panose="02040503050406030204" pitchFamily="18" charset="0"/>
                </a:rPr>
                <a:t>If No Energy Loss!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094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9CAB-C28D-5F24-46B7-98F78DBC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Photons: Clean Probes of Event Activity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2C035-A237-30F5-5E1F-8B1552ED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75E3F-C643-A663-22F8-9786F622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3589"/>
            <a:ext cx="5241457" cy="4466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BDD7A-258D-D9F2-9CF5-02486B083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275" y="1443589"/>
            <a:ext cx="4556906" cy="4556906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E08E9E-B062-EB6E-5108-4A47F4ABB2ED}"/>
              </a:ext>
            </a:extLst>
          </p:cNvPr>
          <p:cNvSpPr/>
          <p:nvPr/>
        </p:nvSpPr>
        <p:spPr>
          <a:xfrm>
            <a:off x="3402767" y="2810482"/>
            <a:ext cx="2676890" cy="1349115"/>
          </a:xfrm>
          <a:prstGeom prst="round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2261BB-BC9D-1FC2-8766-300C91B0DF60}"/>
              </a:ext>
            </a:extLst>
          </p:cNvPr>
          <p:cNvSpPr/>
          <p:nvPr/>
        </p:nvSpPr>
        <p:spPr>
          <a:xfrm>
            <a:off x="10148340" y="4429420"/>
            <a:ext cx="550785" cy="445957"/>
          </a:xfrm>
          <a:prstGeom prst="round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9136A-366C-2CD9-3CA0-4BDF5B6082C2}"/>
              </a:ext>
            </a:extLst>
          </p:cNvPr>
          <p:cNvSpPr txBox="1"/>
          <p:nvPr/>
        </p:nvSpPr>
        <p:spPr>
          <a:xfrm>
            <a:off x="3771170" y="6000495"/>
            <a:ext cx="461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PHENIX, PRL 134, 022302 (2025)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69EC6-D154-139C-37BB-F9C70957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3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7C8B-A2E6-7B0D-194E-B20C4227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Photons: Clean Probes of Event Activity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A1BDB-BD93-3EA8-F2B6-76CB14350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7894B-6656-8074-BE3D-8A433BCE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9A9B81-5742-538B-8763-3E93D7ABC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75" y="1690688"/>
            <a:ext cx="4556906" cy="45569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478018-1BBA-5803-1ED8-C4A1CA145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107" y="1754994"/>
            <a:ext cx="5958694" cy="4101649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B61EC0-2F15-A5A5-900B-57B154F97239}"/>
              </a:ext>
            </a:extLst>
          </p:cNvPr>
          <p:cNvSpPr/>
          <p:nvPr/>
        </p:nvSpPr>
        <p:spPr>
          <a:xfrm>
            <a:off x="443875" y="3429000"/>
            <a:ext cx="4717061" cy="2747963"/>
          </a:xfrm>
          <a:prstGeom prst="round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E484317-CE3A-99BF-AD01-34BDC12A01D3}"/>
              </a:ext>
            </a:extLst>
          </p:cNvPr>
          <p:cNvSpPr/>
          <p:nvPr/>
        </p:nvSpPr>
        <p:spPr>
          <a:xfrm>
            <a:off x="5395106" y="1434674"/>
            <a:ext cx="6192865" cy="4556906"/>
          </a:xfrm>
          <a:prstGeom prst="round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5500F7-EFB5-865E-64C8-94293A6EEF6B}"/>
              </a:ext>
            </a:extLst>
          </p:cNvPr>
          <p:cNvSpPr/>
          <p:nvPr/>
        </p:nvSpPr>
        <p:spPr>
          <a:xfrm>
            <a:off x="6276813" y="5176434"/>
            <a:ext cx="5076987" cy="418454"/>
          </a:xfrm>
          <a:prstGeom prst="round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23118C8-ECF8-0DE2-4388-B7A574268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85" y="5423326"/>
            <a:ext cx="3946896" cy="433317"/>
          </a:xfrm>
          <a:prstGeom prst="roundRect">
            <a:avLst/>
          </a:prstGeom>
          <a:noFill/>
          <a:ln w="444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3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070CF-9A5F-E3C5-F49F-BA6CB5188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" panose="02040503050406030204" pitchFamily="18" charset="0"/>
                  </a:rPr>
                  <a:t>Photon method </a:t>
                </a:r>
                <a:r>
                  <a:rPr lang="en-US" i="1" dirty="0">
                    <a:latin typeface="Cambria" panose="02040503050406030204" pitchFamily="18" charset="0"/>
                  </a:rPr>
                  <a:t>assumes</a:t>
                </a:r>
                <a:r>
                  <a:rPr lang="en-US" dirty="0">
                    <a:latin typeface="Cambria" panose="02040503050406030204" pitchFamily="18" charset="0"/>
                  </a:rPr>
                  <a:t>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>
                    <a:latin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</a:rPr>
                  <a:t> have same bias</a:t>
                </a:r>
              </a:p>
              <a:p>
                <a:r>
                  <a:rPr lang="en-US" dirty="0">
                    <a:latin typeface="Cambria" panose="02040503050406030204" pitchFamily="18" charset="0"/>
                  </a:rPr>
                  <a:t>Not obvious:</a:t>
                </a:r>
              </a:p>
              <a:p>
                <a:pPr lvl="1"/>
                <a:r>
                  <a:rPr lang="en-US" dirty="0">
                    <a:latin typeface="Cambria" panose="02040503050406030204" pitchFamily="18" charset="0"/>
                  </a:rPr>
                  <a:t>Different production processes</a:t>
                </a:r>
              </a:p>
              <a:p>
                <a:pPr lvl="1"/>
                <a:r>
                  <a:rPr lang="en-US" dirty="0">
                    <a:latin typeface="Cambria" panose="02040503050406030204" pitchFamily="18" charset="0"/>
                  </a:rPr>
                  <a:t>Fragmentation is different</a:t>
                </a:r>
              </a:p>
              <a:p>
                <a:pPr lvl="1"/>
                <a:r>
                  <a:rPr lang="en-US" dirty="0">
                    <a:latin typeface="Cambria" panose="02040503050406030204" pitchFamily="18" charset="0"/>
                  </a:rPr>
                  <a:t>Tension: phenomenologically little energy loss in models</a:t>
                </a:r>
              </a:p>
              <a:p>
                <a:pPr marL="0" indent="0" algn="ctr">
                  <a:buNone/>
                </a:pPr>
                <a:endParaRPr lang="en-US" i="1" dirty="0">
                  <a:latin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b="1" dirty="0">
                    <a:latin typeface="Cambria" panose="02040503050406030204" pitchFamily="18" charset="0"/>
                  </a:rPr>
                  <a:t>This is worth investigating!</a:t>
                </a:r>
              </a:p>
              <a:p>
                <a:pPr lvl="1"/>
                <a:endParaRPr lang="en-US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070CF-9A5F-E3C5-F49F-BA6CB5188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2D1927A-F164-B7B0-BE49-1E165561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A Critical Assumption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5C069-93CF-9D37-F57B-E538437E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980E02-AEDC-3CDC-7810-ADD5BF1EA7FC}"/>
              </a:ext>
            </a:extLst>
          </p:cNvPr>
          <p:cNvSpPr/>
          <p:nvPr/>
        </p:nvSpPr>
        <p:spPr>
          <a:xfrm>
            <a:off x="2018675" y="4355684"/>
            <a:ext cx="8154649" cy="77948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02D0A-33AB-4268-013E-AEC2AF85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12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228450-9318-A853-D1FC-FA24F8B35C86}"/>
              </a:ext>
            </a:extLst>
          </p:cNvPr>
          <p:cNvSpPr/>
          <p:nvPr/>
        </p:nvSpPr>
        <p:spPr>
          <a:xfrm>
            <a:off x="838200" y="1690688"/>
            <a:ext cx="8513191" cy="6660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77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4C31-3A76-8B51-2B2A-8B71855C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CB07-CE54-DB6E-76CA-4551FD48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</a:rPr>
              <a:t>Considerations and Questions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7B09A-DB0E-E34A-5EFD-21C95AC8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95E62-6EF2-A055-6104-0B9BC4D5C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3589"/>
            <a:ext cx="4556906" cy="45569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6A7287-5E68-0B98-B1F9-4813567F04C5}"/>
              </a:ext>
            </a:extLst>
          </p:cNvPr>
          <p:cNvSpPr txBox="1"/>
          <p:nvPr/>
        </p:nvSpPr>
        <p:spPr>
          <a:xfrm>
            <a:off x="3771170" y="6000495"/>
            <a:ext cx="461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PHENIX, PRL 134, 022302 (2025)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3E4AD-9E35-292F-2012-47369BE8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33D58-E6FE-9692-FDA0-0F97D21A38CB}"/>
              </a:ext>
            </a:extLst>
          </p:cNvPr>
          <p:cNvSpPr txBox="1"/>
          <p:nvPr/>
        </p:nvSpPr>
        <p:spPr>
          <a:xfrm>
            <a:off x="5588000" y="1443589"/>
            <a:ext cx="558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</a:rPr>
              <a:t>Is the suppression observed due to solely to energy conservation bias?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</a:rPr>
              <a:t>How large are the effects of fragmentation and shadowing?</a:t>
            </a:r>
          </a:p>
        </p:txBody>
      </p:sp>
    </p:spTree>
    <p:extLst>
      <p:ext uri="{BB962C8B-B14F-4D97-AF65-F5344CB8AC3E}">
        <p14:creationId xmlns:p14="http://schemas.microsoft.com/office/powerpoint/2010/main" val="188407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1B89-5BE4-AF0A-ACF2-86864676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1FABA-2CEF-0335-01FA-E397AC6ED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2342" y="1825625"/>
            <a:ext cx="5241457" cy="4351338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</a:rPr>
              <a:t>Why is suppression larger at high </a:t>
            </a:r>
            <a:r>
              <a:rPr lang="en-US" dirty="0" err="1">
                <a:latin typeface="Cambria" panose="02040503050406030204" pitchFamily="18" charset="0"/>
              </a:rPr>
              <a:t>pT</a:t>
            </a:r>
            <a:r>
              <a:rPr lang="en-US" dirty="0">
                <a:latin typeface="Cambria" panose="02040503050406030204" pitchFamily="18" charset="0"/>
              </a:rPr>
              <a:t> in central case? Solely due to larger </a:t>
            </a:r>
            <a:r>
              <a:rPr lang="en-US" dirty="0" err="1">
                <a:latin typeface="Cambria" panose="02040503050406030204" pitchFamily="18" charset="0"/>
              </a:rPr>
              <a:t>Ncoll</a:t>
            </a:r>
            <a:r>
              <a:rPr lang="en-US" dirty="0">
                <a:latin typeface="Cambria" panose="02040503050406030204" pitchFamily="18" charset="0"/>
              </a:rPr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18E58-D2B0-2098-CDC6-0588CF1A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Dolan | Heavy-Ion Journal Club | July 24,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F5F36-79C0-C650-F560-5DF55FA3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716A-34BD-B948-8AFB-AE91C8204218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6A56D-E9C6-8406-28E6-572E33EDC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241457" cy="44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0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12601</TotalTime>
  <Words>720</Words>
  <Application>Microsoft Macintosh PowerPoint</Application>
  <PresentationFormat>Widescreen</PresentationFormat>
  <Paragraphs>105</Paragraphs>
  <Slides>14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</vt:lpstr>
      <vt:lpstr>Cambria Math</vt:lpstr>
      <vt:lpstr>Office Theme</vt:lpstr>
      <vt:lpstr>Energy Conservation Induced Bias in Centrality Classification</vt:lpstr>
      <vt:lpstr>First Signs of Centrality Bias</vt:lpstr>
      <vt:lpstr>X-SCAPE Framework</vt:lpstr>
      <vt:lpstr>Workflow in X-SCAPE</vt:lpstr>
      <vt:lpstr>Bias from Hard Probes</vt:lpstr>
      <vt:lpstr>Bias from Hard Probes</vt:lpstr>
      <vt:lpstr>Absence of Energy Loss in Small Systems</vt:lpstr>
      <vt:lpstr>Absence of Energy loss in d+Au</vt:lpstr>
      <vt:lpstr>Reducing the Bias in Nuclear Modification</vt:lpstr>
      <vt:lpstr>Photons: Clean Probes of Event Activity</vt:lpstr>
      <vt:lpstr>Photons: Clean Probes of Event Activity</vt:lpstr>
      <vt:lpstr>A Critical Assumption</vt:lpstr>
      <vt:lpstr>Considerations and Questions</vt:lpstr>
      <vt:lpstr>Considerations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Dolan</dc:creator>
  <cp:lastModifiedBy>Robert Dolan</cp:lastModifiedBy>
  <cp:revision>23</cp:revision>
  <dcterms:created xsi:type="dcterms:W3CDTF">2026-06-12T22:59:13Z</dcterms:created>
  <dcterms:modified xsi:type="dcterms:W3CDTF">2026-08-05T03:28:53Z</dcterms:modified>
</cp:coreProperties>
</file>